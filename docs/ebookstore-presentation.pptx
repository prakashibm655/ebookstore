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9" d="100"/>
          <a:sy n="69" d="100"/>
        </p:scale>
        <p:origin x="54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  <a:t>10/11/2026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yourself. E-Bookstore API is the backend for an online bookstore: user accounts, a book catalogue, shopping cart, mock payments, orders and recommendations. This recording covers the architecture, the main features, a live demo in Swagger UI, and the security design.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Give a quick overview of the session. The demo is the main part, roughly 4 to 5 minutes.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Each request goes through the layers: controllers handle HTTP and validation, services hold the business logic, repositories handle data access. Hibernate creates the schema and data.sql loads the sample catalogue on startup.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 through the six feature areas. Saved delivery addresses are also supported at /users/me/addresses and are used at checkout.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Switch to the browser. Use a demo account only (for example demo@example.com), never real personal details. Do not show the terminal where the environment variables were set. Blur any JWT tokens in the video before sharing it. Pre-fill the request bodies in a notepad so you can paste them quickly.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the app was built with security in mind from the start. If the JWT_SECRET or database variables are missing, the app fails at startup rather than running with weak defaults.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Summarise: a secure REST API covering the full shopping flow. Mention possible next steps and invite questions.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"/>
          <p:cNvSpPr txBox="1"/>
          <p:nvPr/>
        </p:nvSpPr>
        <p:spPr>
          <a:xfrm>
            <a:off x="720000" y="2160000"/>
            <a:ext cx="10728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E-Bookstore API</a:t>
            </a:r>
          </a:p>
        </p:txBody>
      </p:sp>
      <p:sp>
        <p:nvSpPr>
          <p:cNvPr id="100001" name="Subtitle"/>
          <p:cNvSpPr txBox="1"/>
          <p:nvPr/>
        </p:nvSpPr>
        <p:spPr>
          <a:xfrm>
            <a:off x="720000" y="3420000"/>
            <a:ext cx="10728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CADCFC"/>
                </a:solidFill>
                <a:latin typeface="Calibri"/>
                <a:ea typeface="Calibri"/>
              </a:rPr>
              <a:t>A Spring Boot REST API for an online bookstore</a:t>
            </a:r>
          </a:p>
        </p:txBody>
      </p:sp>
      <p:sp>
        <p:nvSpPr>
          <p:cNvPr id="100002" name="Footer"/>
          <p:cNvSpPr txBox="1"/>
          <p:nvPr/>
        </p:nvSpPr>
        <p:spPr>
          <a:xfrm>
            <a:off x="720000" y="5400000"/>
            <a:ext cx="10728000" cy="54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 dirty="0">
                <a:solidFill>
                  <a:srgbClr val="CADCFC"/>
                </a:solidFill>
                <a:latin typeface="Calibri"/>
                <a:ea typeface="Calibri"/>
              </a:rPr>
              <a:t>Presenter: Prakash R  |  11-10-2026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" name="Title"/>
          <p:cNvSpPr txBox="1"/>
          <p:nvPr/>
        </p:nvSpPr>
        <p:spPr>
          <a:xfrm>
            <a:off x="720000" y="432000"/>
            <a:ext cx="10728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E2761"/>
                </a:solidFill>
                <a:latin typeface="Calibri"/>
                <a:ea typeface="Calibri"/>
              </a:rPr>
              <a:t>Agenda</a:t>
            </a:r>
          </a:p>
        </p:txBody>
      </p:sp>
      <p:sp>
        <p:nvSpPr>
          <p:cNvPr id="100004" name="Body"/>
          <p:cNvSpPr txBox="1"/>
          <p:nvPr/>
        </p:nvSpPr>
        <p:spPr>
          <a:xfrm>
            <a:off x="720000" y="1620000"/>
            <a:ext cx="10728000" cy="43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400">
                <a:solidFill>
                  <a:srgbClr val="333333"/>
                </a:solidFill>
                <a:latin typeface="Calibri"/>
                <a:ea typeface="Calibri"/>
              </a:rPr>
              <a:t>1.  What the platform does</a:t>
            </a:r>
          </a:p>
          <a:p>
            <a:r>
              <a:rPr lang="en-US" sz="2400">
                <a:solidFill>
                  <a:srgbClr val="333333"/>
                </a:solidFill>
                <a:latin typeface="Calibri"/>
                <a:ea typeface="Calibri"/>
              </a:rPr>
              <a:t>2.  Architecture and tech stack</a:t>
            </a:r>
          </a:p>
          <a:p>
            <a:r>
              <a:rPr lang="en-US" sz="2400">
                <a:solidFill>
                  <a:srgbClr val="333333"/>
                </a:solidFill>
                <a:latin typeface="Calibri"/>
                <a:ea typeface="Calibri"/>
              </a:rPr>
              <a:t>3.  Key features</a:t>
            </a:r>
          </a:p>
          <a:p>
            <a:r>
              <a:rPr lang="en-US" sz="2400">
                <a:solidFill>
                  <a:srgbClr val="333333"/>
                </a:solidFill>
                <a:latin typeface="Calibri"/>
                <a:ea typeface="Calibri"/>
              </a:rPr>
              <a:t>4.  Live demo: from sign-up to order</a:t>
            </a:r>
          </a:p>
          <a:p>
            <a:r>
              <a:rPr lang="en-US" sz="2400">
                <a:solidFill>
                  <a:srgbClr val="333333"/>
                </a:solidFill>
                <a:latin typeface="Calibri"/>
                <a:ea typeface="Calibri"/>
              </a:rPr>
              <a:t>5.  Security highlights</a:t>
            </a:r>
          </a:p>
          <a:p>
            <a:r>
              <a:rPr lang="en-US" sz="2400">
                <a:solidFill>
                  <a:srgbClr val="333333"/>
                </a:solidFill>
                <a:latin typeface="Calibri"/>
                <a:ea typeface="Calibri"/>
              </a:rPr>
              <a:t>6.  Wrap-up and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" name="Title"/>
          <p:cNvSpPr txBox="1"/>
          <p:nvPr/>
        </p:nvSpPr>
        <p:spPr>
          <a:xfrm>
            <a:off x="720000" y="432000"/>
            <a:ext cx="10728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E2761"/>
                </a:solidFill>
                <a:latin typeface="Calibri"/>
                <a:ea typeface="Calibri"/>
              </a:rPr>
              <a:t>Architecture and Tech Stack</a:t>
            </a:r>
          </a:p>
        </p:txBody>
      </p:sp>
      <p:sp>
        <p:nvSpPr>
          <p:cNvPr id="100006" name="Layers"/>
          <p:cNvSpPr txBox="1"/>
          <p:nvPr/>
        </p:nvSpPr>
        <p:spPr>
          <a:xfrm>
            <a:off x="720000" y="1620000"/>
            <a:ext cx="10728000" cy="792000"/>
          </a:xfrm>
          <a:prstGeom prst="rect">
            <a:avLst/>
          </a:prstGeom>
          <a:solidFill>
            <a:srgbClr val="3B82D4"/>
          </a:solidFill>
        </p:spPr>
        <p:txBody>
          <a:bodyPr/>
          <a:lstStyle/>
          <a:p>
            <a:r>
              <a:rPr lang="en-US" sz="2400" b="1">
                <a:solidFill>
                  <a:srgbClr val="FFFFFF"/>
                </a:solidFill>
                <a:latin typeface="Calibri"/>
                <a:ea typeface="Calibri"/>
              </a:rPr>
              <a:t>Controller  →  Service  →  Repository  →  PostgreSQL</a:t>
            </a:r>
          </a:p>
        </p:txBody>
      </p:sp>
      <p:sp>
        <p:nvSpPr>
          <p:cNvPr id="100007" name="Body"/>
          <p:cNvSpPr txBox="1"/>
          <p:nvPr/>
        </p:nvSpPr>
        <p:spPr>
          <a:xfrm>
            <a:off x="720000" y="2700000"/>
            <a:ext cx="10728000" cy="36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Java 21 and Spring Boot 4.1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Spring Security with stateless JWT authentication (JJWT)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Spring Data JPA and Hibernate on PostgreSQL 15+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Bean Validation for request DTOs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OpenAPI docs and Swagger UI (springdoc)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Actuator health endpoint for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" name="Title"/>
          <p:cNvSpPr txBox="1"/>
          <p:nvPr/>
        </p:nvSpPr>
        <p:spPr>
          <a:xfrm>
            <a:off x="720000" y="432000"/>
            <a:ext cx="10728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E2761"/>
                </a:solidFill>
                <a:latin typeface="Calibri"/>
                <a:ea typeface="Calibri"/>
              </a:rPr>
              <a:t>Key Features</a:t>
            </a:r>
          </a:p>
        </p:txBody>
      </p:sp>
      <p:sp>
        <p:nvSpPr>
          <p:cNvPr id="100009" name="Left"/>
          <p:cNvSpPr txBox="1"/>
          <p:nvPr/>
        </p:nvSpPr>
        <p:spPr>
          <a:xfrm>
            <a:off x="720000" y="1620000"/>
            <a:ext cx="5220000" cy="4500000"/>
          </a:xfrm>
          <a:prstGeom prst="rect">
            <a:avLst/>
          </a:prstGeom>
          <a:solidFill>
            <a:srgbClr val="F7F8FA"/>
          </a:solidFill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Authentication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Register and log in, get a JWT</a:t>
            </a:r>
          </a:p>
          <a:p>
            <a:endParaRPr lang="en-US" sz="18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Catalogue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Categories, brands, product search and paging, related products</a:t>
            </a:r>
          </a:p>
          <a:p>
            <a:endParaRPr lang="en-US" sz="18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Shopping cart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Add, update, remove and clear items</a:t>
            </a:r>
          </a:p>
        </p:txBody>
      </p:sp>
      <p:sp>
        <p:nvSpPr>
          <p:cNvPr id="100010" name="Right"/>
          <p:cNvSpPr txBox="1"/>
          <p:nvPr/>
        </p:nvSpPr>
        <p:spPr>
          <a:xfrm>
            <a:off x="6228000" y="1620000"/>
            <a:ext cx="5220000" cy="4500000"/>
          </a:xfrm>
          <a:prstGeom prst="rect">
            <a:avLst/>
          </a:prstGeom>
          <a:solidFill>
            <a:srgbClr val="F7F8FA"/>
          </a:solidFill>
        </p:spPr>
        <p:txBody>
          <a:bodyPr/>
          <a:lstStyle/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Payments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Mock payment start and confirm, with gift points</a:t>
            </a:r>
          </a:p>
          <a:p>
            <a:endParaRPr lang="en-US" sz="18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Orders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Order history, order details, reorder, cancel</a:t>
            </a:r>
          </a:p>
          <a:p>
            <a:endParaRPr lang="en-US" sz="1800">
              <a:solidFill>
                <a:srgbClr val="333333"/>
              </a:solidFill>
              <a:latin typeface="Calibri"/>
              <a:ea typeface="Calibri"/>
            </a:endParaRP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Recommendations</a:t>
            </a:r>
          </a:p>
          <a:p>
            <a:r>
              <a:rPr lang="en-US" sz="1800">
                <a:solidFill>
                  <a:srgbClr val="333333"/>
                </a:solidFill>
                <a:latin typeface="Calibri"/>
                <a:ea typeface="Calibri"/>
              </a:rPr>
              <a:t>Books suggested from the cart, based on what other customers bought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" name="Title"/>
          <p:cNvSpPr txBox="1"/>
          <p:nvPr/>
        </p:nvSpPr>
        <p:spPr>
          <a:xfrm>
            <a:off x="720000" y="432000"/>
            <a:ext cx="10728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Live Demo: From Sign-Up to Order</a:t>
            </a:r>
          </a:p>
        </p:txBody>
      </p:sp>
      <p:sp>
        <p:nvSpPr>
          <p:cNvPr id="100012" name="Body"/>
          <p:cNvSpPr txBox="1"/>
          <p:nvPr/>
        </p:nvSpPr>
        <p:spPr>
          <a:xfrm>
            <a:off x="720000" y="1512000"/>
            <a:ext cx="10728000" cy="48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1.  POST /auth/register: create a demo user</a:t>
            </a: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2.  POST /auth/login: copy the JWT and click Authorize</a:t>
            </a: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3.  GET /products: browse the catalogue</a:t>
            </a: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4.  POST /cart/items: add a book to the cart</a:t>
            </a: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5.  POST /users/me/addresses: add a delivery address</a:t>
            </a: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6.  POST /payments/initiate, then /payments/confirm/{id}</a:t>
            </a: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7.  GET /orders: show the new order</a:t>
            </a:r>
          </a:p>
          <a:p>
            <a:endParaRPr lang="en-US" sz="2000">
              <a:solidFill>
                <a:srgbClr val="FFFFFF"/>
              </a:solidFill>
              <a:latin typeface="Calibri"/>
              <a:ea typeface="Calibri"/>
            </a:endParaRPr>
          </a:p>
          <a:p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Swagger UI: http://127.0.0.1:8080/swagger-ui.html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" name="Title"/>
          <p:cNvSpPr txBox="1"/>
          <p:nvPr/>
        </p:nvSpPr>
        <p:spPr>
          <a:xfrm>
            <a:off x="720000" y="432000"/>
            <a:ext cx="10728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3600" b="1">
                <a:solidFill>
                  <a:srgbClr val="1E2761"/>
                </a:solidFill>
                <a:latin typeface="Calibri"/>
                <a:ea typeface="Calibri"/>
              </a:rPr>
              <a:t>Security Highlights</a:t>
            </a:r>
          </a:p>
        </p:txBody>
      </p:sp>
      <p:sp>
        <p:nvSpPr>
          <p:cNvPr id="100014" name="Body"/>
          <p:cNvSpPr txBox="1"/>
          <p:nvPr/>
        </p:nvSpPr>
        <p:spPr>
          <a:xfrm>
            <a:off x="720000" y="1620000"/>
            <a:ext cx="10728000" cy="45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No secrets in the code: database credentials and the JWT key come from environment variables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Passwords are hashed with BCrypt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Short-lived signed JWTs (1 hour by default); the app refuses to start with a key under 32 bytes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Permissions are checked on every request; only login and catalogue endpoints are public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The server listens on 127.0.0.1 only</a:t>
            </a:r>
          </a:p>
          <a:p>
            <a:r>
              <a:rPr lang="en-US" sz="2000">
                <a:solidFill>
                  <a:srgbClr val="333333"/>
                </a:solidFill>
                <a:latin typeface="Calibri"/>
                <a:ea typeface="Calibri"/>
              </a:rPr>
              <a:t>•  Input is validated, and error responses are generic (no stack traces)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5" name="Title"/>
          <p:cNvSpPr txBox="1"/>
          <p:nvPr/>
        </p:nvSpPr>
        <p:spPr>
          <a:xfrm>
            <a:off x="720000" y="1800000"/>
            <a:ext cx="10728000" cy="10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800" b="1">
                <a:solidFill>
                  <a:srgbClr val="FFFFFF"/>
                </a:solidFill>
                <a:latin typeface="Calibri"/>
                <a:ea typeface="Calibri"/>
              </a:rPr>
              <a:t>Thank You</a:t>
            </a:r>
          </a:p>
        </p:txBody>
      </p:sp>
      <p:sp>
        <p:nvSpPr>
          <p:cNvPr id="100016" name="Body"/>
          <p:cNvSpPr txBox="1"/>
          <p:nvPr/>
        </p:nvSpPr>
        <p:spPr>
          <a:xfrm>
            <a:off x="720000" y="3060000"/>
            <a:ext cx="10728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2200">
                <a:solidFill>
                  <a:srgbClr val="CADCFC"/>
                </a:solidFill>
                <a:latin typeface="Calibri"/>
                <a:ea typeface="Calibri"/>
              </a:rPr>
              <a:t>Next steps: real payment provider  •  container deployment  •  CI security scanning</a:t>
            </a:r>
          </a:p>
          <a:p>
            <a:endParaRPr lang="en-US" sz="2200">
              <a:solidFill>
                <a:srgbClr val="CADCFC"/>
              </a:solidFill>
              <a:latin typeface="Calibri"/>
              <a:ea typeface="Calibri"/>
            </a:endParaRPr>
          </a:p>
          <a:p>
            <a:r>
              <a:rPr lang="en-US" sz="2200">
                <a:solidFill>
                  <a:srgbClr val="CADCFC"/>
                </a:solidFill>
                <a:latin typeface="Calibri"/>
                <a:ea typeface="Calibri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641</Words>
  <Application>Microsoft Office PowerPoint</Application>
  <PresentationFormat>Widescreen</PresentationFormat>
  <Paragraphs>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OfficeCLI</dc:creator>
  <cp:lastModifiedBy>Prakash R</cp:lastModifiedBy>
  <cp:revision>1</cp:revision>
  <dcterms:created xsi:type="dcterms:W3CDTF">2026-10-11T04:25:59Z</dcterms:created>
  <dcterms:modified xsi:type="dcterms:W3CDTF">2026-10-11T04:30:01Z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1.0.144</vt:lpwstr>
  </property>
  <property fmtid="{D5CDD505-2E9C-101B-9397-08002B2CF9AE}" pid="3" name="OfficeCLI.LastModified">
    <vt:lpwstr>2026-10-11T04:26:03Z</vt:lpwstr>
  </property>
</Properties>
</file>